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6"/>
  </p:notesMasterIdLst>
  <p:sldIdLst>
    <p:sldId id="256" r:id="rId2"/>
    <p:sldId id="257" r:id="rId3"/>
    <p:sldId id="258" r:id="rId4"/>
    <p:sldId id="264" r:id="rId5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42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5809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421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8782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3248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9741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841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0928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8960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3320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04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123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87307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3427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12680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00477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04968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70916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36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019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51960" y="2331720"/>
            <a:ext cx="3657600" cy="320040"/>
          </a:xfrm>
          <a:prstGeom prst="roundRect">
            <a:avLst>
              <a:gd name="adj" fmla="val 48571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25196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Contract-Risk Analyzer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ContractSentinel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model runs locally. Your contract never leaves the machine.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73543" y="62865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A8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ContractSentinel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72022" y="62865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A8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/ 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90"/>
          <p:cNvSpPr txBox="1"/>
          <p:nvPr/>
        </p:nvSpPr>
        <p:spPr>
          <a:xfrm>
            <a:off x="548640" y="4700000"/>
            <a:ext cx="110642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FA8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Hardened like a real product: encrypted at rest, prompt-injection defense, per-user isolation, 933 backend tests.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problem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ContractSentinel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/ 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10424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7F3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Businesses sign contracts they can't afford to fully lawyer risky clauses like unlimited liability or silent auto-renewals slip through until it's too late.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E7F3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obvious fix is feeding contracts into an AI chatbot — but contracts are confidential, and most companies simply can't send them to an outside service.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F4F7F6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39" y="457200"/>
            <a:ext cx="22918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users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Who this is for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0"/>
          </a:xfrm>
          <a:prstGeom prst="line">
            <a:avLst/>
          </a:prstGeom>
          <a:noFill/>
          <a:ln w="19050">
            <a:solidFill>
              <a:srgbClr val="F4F7F6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ContractSentinel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rgbClr val="F4F7F6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417320" y="1920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 businesses without an in-house legal team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640080" cy="640080"/>
          </a:xfrm>
          <a:prstGeom prst="ellipse">
            <a:avLst/>
          </a:prstGeom>
          <a:solidFill>
            <a:srgbClr val="F4F7F6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17320" y="29718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Procurement teams reviewing vendor contracts constantly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rgbClr val="F4F7F6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417320" y="40233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Freelancers and small agencies signing agreements too often for a lawyer's review each time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P">
    <p:bg>
      <p:bgPr>
        <a:solidFill>
          <a:srgbClr val="0B3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02920"/>
            <a:ext cx="2369658" cy="320040"/>
          </a:xfrm>
          <a:prstGeom prst="roundRect">
            <a:avLst>
              <a:gd name="adj" fmla="val 48571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48640" y="502920"/>
            <a:ext cx="2369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USP · The AI engine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930000"/>
            <a:ext cx="1109472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the AI actually does the work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1790000"/>
            <a:ext cx="1109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A8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autonomous 7-node LangGraph agent reads the contract end to end — not a single chatbot prompt.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320000"/>
            <a:ext cx="1400000" cy="560000"/>
          </a:xfrm>
          <a:prstGeom prst="roundRect">
            <a:avLst>
              <a:gd name="adj" fmla="val 14000"/>
            </a:avLst>
          </a:prstGeom>
          <a:solidFill>
            <a:srgbClr val="0F4F4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548640" y="2320000"/>
            <a:ext cx="14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F3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Ingest</a:t>
            </a:r>
          </a:p>
        </p:txBody>
      </p:sp>
      <p:sp>
        <p:nvSpPr>
          <p:cNvPr id="8" name="Shape 8"/>
          <p:cNvSpPr/>
          <p:nvPr/>
        </p:nvSpPr>
        <p:spPr>
          <a:xfrm>
            <a:off x="2164426" y="2320000"/>
            <a:ext cx="1400000" cy="560000"/>
          </a:xfrm>
          <a:prstGeom prst="roundRect">
            <a:avLst>
              <a:gd name="adj" fmla="val 14000"/>
            </a:avLst>
          </a:prstGeom>
          <a:solidFill>
            <a:srgbClr val="0F4F4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2164426" y="2320000"/>
            <a:ext cx="14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F3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Split</a:t>
            </a:r>
          </a:p>
        </p:txBody>
      </p:sp>
      <p:sp>
        <p:nvSpPr>
          <p:cNvPr id="10" name="Shape 10"/>
          <p:cNvSpPr/>
          <p:nvPr/>
        </p:nvSpPr>
        <p:spPr>
          <a:xfrm>
            <a:off x="3780212" y="2320000"/>
            <a:ext cx="1400000" cy="5600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3780212" y="2320000"/>
            <a:ext cx="14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CRAG</a:t>
            </a:r>
          </a:p>
        </p:txBody>
      </p:sp>
      <p:sp>
        <p:nvSpPr>
          <p:cNvPr id="12" name="Shape 12"/>
          <p:cNvSpPr/>
          <p:nvPr/>
        </p:nvSpPr>
        <p:spPr>
          <a:xfrm>
            <a:off x="5395998" y="2320000"/>
            <a:ext cx="1400000" cy="5600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5395998" y="2320000"/>
            <a:ext cx="14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Self-RAG</a:t>
            </a:r>
          </a:p>
        </p:txBody>
      </p:sp>
      <p:sp>
        <p:nvSpPr>
          <p:cNvPr id="14" name="Shape 14"/>
          <p:cNvSpPr/>
          <p:nvPr/>
        </p:nvSpPr>
        <p:spPr>
          <a:xfrm>
            <a:off x="7011784" y="2320000"/>
            <a:ext cx="1400000" cy="5600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7011784" y="2320000"/>
            <a:ext cx="14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Risk Score</a:t>
            </a:r>
          </a:p>
        </p:txBody>
      </p:sp>
      <p:sp>
        <p:nvSpPr>
          <p:cNvPr id="16" name="Shape 16"/>
          <p:cNvSpPr/>
          <p:nvPr/>
        </p:nvSpPr>
        <p:spPr>
          <a:xfrm>
            <a:off x="8627570" y="2320000"/>
            <a:ext cx="1400000" cy="5600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8627570" y="2320000"/>
            <a:ext cx="14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Redline</a:t>
            </a:r>
          </a:p>
        </p:txBody>
      </p:sp>
      <p:sp>
        <p:nvSpPr>
          <p:cNvPr id="18" name="Shape 18"/>
          <p:cNvSpPr/>
          <p:nvPr/>
        </p:nvSpPr>
        <p:spPr>
          <a:xfrm>
            <a:off x="10243356" y="2320000"/>
            <a:ext cx="1400000" cy="560000"/>
          </a:xfrm>
          <a:prstGeom prst="roundRect">
            <a:avLst>
              <a:gd name="adj" fmla="val 14000"/>
            </a:avLst>
          </a:prstGeom>
          <a:solidFill>
            <a:srgbClr val="0F4F4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10243356" y="2320000"/>
            <a:ext cx="14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F3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Report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48640" y="2960000"/>
            <a:ext cx="1109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A8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conditional edges · checkpointed in SQLite, so a killed run resumes from the last finished node.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3300000"/>
            <a:ext cx="3484906" cy="2000000"/>
          </a:xfrm>
          <a:prstGeom prst="roundRect">
            <a:avLst>
              <a:gd name="adj" fmla="val 6957"/>
            </a:avLst>
          </a:prstGeom>
          <a:solidFill>
            <a:srgbClr val="0F4F4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808640" y="3490000"/>
            <a:ext cx="296490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Evidence, not opinion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08640" y="3940000"/>
            <a:ext cx="2964906" cy="1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F3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flagged clause cites retrieved evidence — a local FAISS index of 1,400+ real contract clauses (CUAD + Bonterms). Below 0.73 retrieval confidence the agent falls back to live web search.</a:t>
            </a:r>
          </a:p>
        </p:txBody>
      </p:sp>
      <p:sp>
        <p:nvSpPr>
          <p:cNvPr id="24" name="Shape 24"/>
          <p:cNvSpPr/>
          <p:nvPr/>
        </p:nvSpPr>
        <p:spPr>
          <a:xfrm>
            <a:off x="4353546" y="3300000"/>
            <a:ext cx="3484906" cy="2000000"/>
          </a:xfrm>
          <a:prstGeom prst="roundRect">
            <a:avLst>
              <a:gd name="adj" fmla="val 6957"/>
            </a:avLst>
          </a:prstGeom>
          <a:solidFill>
            <a:srgbClr val="0F4F4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4613546" y="3490000"/>
            <a:ext cx="296490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checks its own work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4613546" y="3940000"/>
            <a:ext cx="2964906" cy="1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F3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Self-RAG relevance and support checks throw out the false alarms, while a recall floor stops genuinely high-risk clause types being dropped. Survivors are scored Low / Medium / High with a written rationale.</a:t>
            </a:r>
          </a:p>
        </p:txBody>
      </p:sp>
      <p:sp>
        <p:nvSpPr>
          <p:cNvPr id="27" name="Shape 27"/>
          <p:cNvSpPr/>
          <p:nvPr/>
        </p:nvSpPr>
        <p:spPr>
          <a:xfrm>
            <a:off x="8158452" y="3300000"/>
            <a:ext cx="3484906" cy="2000000"/>
          </a:xfrm>
          <a:prstGeom prst="roundRect">
            <a:avLst>
              <a:gd name="adj" fmla="val 6957"/>
            </a:avLst>
          </a:prstGeom>
          <a:solidFill>
            <a:srgbClr val="0F4F4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8418452" y="3490000"/>
            <a:ext cx="296490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rewrites the clause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418452" y="3940000"/>
            <a:ext cx="2964906" cy="1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F3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Risky clauses get an AI-drafted safer rewrite plus a plain-English reason, compiled with the full evidence trail into a branded PDF report and delivered to Drive and Gmail.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5620000"/>
            <a:ext cx="11094720" cy="620000"/>
          </a:xfrm>
          <a:prstGeom prst="roundRect">
            <a:avLst>
              <a:gd name="adj" fmla="val 11000"/>
            </a:avLst>
          </a:prstGeom>
          <a:solidFill>
            <a:srgbClr val="0F4F4D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31"/>
          <p:cNvSpPr txBox="1"/>
          <p:nvPr/>
        </p:nvSpPr>
        <p:spPr>
          <a:xfrm>
            <a:off x="822960" y="5620000"/>
            <a:ext cx="1054608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Qwen3:8b and BGE-M3 run locally through Ollama — the contract text never leaves the machine.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ContractSentinel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106424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/ 4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339</Words>
  <Application>Microsoft Office PowerPoint</Application>
  <PresentationFormat>Widescreen</PresentationFormat>
  <Paragraphs>44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Joshi</cp:lastModifiedBy>
  <cp:revision>5</cp:revision>
  <dcterms:created xsi:type="dcterms:W3CDTF">2026-09-19T07:05:45Z</dcterms:created>
  <dcterms:modified xsi:type="dcterms:W3CDTF">2026-09-19T08:37:42Z</dcterms:modified>
</cp:coreProperties>
</file>